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2430"/>
                </a:solidFill>
                <a:latin typeface="Calibri"/>
              </a:rPr>
              <a:t>Puntos de historia por sprint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Puntos</c:v>
                </c:pt>
              </c:strCache>
            </c:strRef>
          </c:tx>
          <c:spPr>
            <a:solidFill>
              <a:srgbClr val="0D4F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Sprint 1</c:v>
                  </c:pt>
                  <c:pt idx="1">
                    <c:v>Sprint 2</c:v>
                  </c:pt>
                  <c:pt idx="2">
                    <c:v>Sprint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15</c:v>
                </c:pt>
                <c:pt idx="2">
                  <c:v>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la revisión: qué es el sistema que evaluamos y que este sprint fue de preparación, no de ejecución de pruebas.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Completar el recuadro con las historias y los puntos terminados al cierre del sprint.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en un minuto qué hace la plataforma, para que la audiencia entienda qué se prueba en los siguientes sprints.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Sprint 3 concentra la ejecución y la automatización; mencionar si el equipo ajustó las estimaciones al priorizar.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integrante escribe su nombre en el rol que ocupa. Una persona puede ocupar más de un 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flujo: el sitio llama a la API; la API valida la sesión y usa los servicios de Google. El navegador nunca escribe directo en la base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Justificar por qué estos seis atributos: son los que el sistema pone en riesgo en operación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métrica tiene fórmula y meta para poder medirla objetivamente en el Sprint 3. Mostrar el panel de Jira si ya está configurado.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integrante presenta su tarjeta: qué hizo, con qué evidencia, y en qué historia de Jira quedó registrado.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Contar qué se terminó y qué no; lo no terminado vuelve al backlog o pasa al siguiente sprint.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Adelantar el compromiso del Sprint 2 y cómo usa lo producido en el Sprint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Recoger observaciones del docente y del Product Owner para la retrospectiva.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43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 · SPRINT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Preparación del proyecto QA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OCR para la validación de facturas y las estadísticas de ventas en campañas de incentivos farmacéuticos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sep – 1 oct 2026  ·  Grupo #1  ·  Seminario de Tecnología de Información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92240" y="1325880"/>
            <a:ext cx="1920240" cy="1920240"/>
          </a:xfrm>
          <a:prstGeom prst="ellipse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098" y="1786738"/>
            <a:ext cx="998525" cy="99852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18120" y="2880360"/>
            <a:ext cx="731520" cy="73152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685" y="3055925"/>
            <a:ext cx="380390" cy="3803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28 SEP – 1 OCT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del sprint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todo lo necesario para probar el sistema: qué se va a evaluar, quién hace qué, cómo está construido y con qué criterios se medirá su calidad.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3172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del sistema a evaluar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Scrum y responsabilidades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módulos y dependencias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de calidad (ISO/IEC 25010)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calidad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0" y="1188720"/>
            <a:ext cx="10972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120640" y="12801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188720"/>
            <a:ext cx="10972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55080" y="12801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0" y="1188720"/>
            <a:ext cx="10972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589520" y="12801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2697480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5285232" y="26974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CIERRE   </a:t>
            </a:r>
            <a:pPr indent="0" marL="0">
              <a:buNone/>
            </a:pPr>
            <a:r>
              <a:rPr lang="en-US" sz="13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Completadas: [__] de 5 · [__] puntos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3520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tablero SCRUM en Jira, historias SCRUM-67 a SCRUM-79.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que vamos a evaluar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16404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4356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la factura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80136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cajero sube la foto o el PDF de su factura desde el navegador del teléfono, sin instalar nada.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23444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508760"/>
            <a:ext cx="548640" cy="54864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434" y="16404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69280" y="14356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OCR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669280" y="180136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Vision extrae el texto; el sistema reconoce los productos de la campaña y sus cantidades.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292608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200400"/>
            <a:ext cx="548640" cy="54864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4" y="333207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1272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por campaña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349300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unidad suma los puntos definidos en la campaña; al llegar a una meta se alcanza el hito y su premio.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09160" y="292608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200400"/>
            <a:ext cx="548640" cy="54864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9434" y="333207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69280" y="31272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y estadísticas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669280" y="349300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de duplicados, revisión de la evidencia y tablero de ventas por día, semana y mes.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SCRUM-67 · HISTORIA DEL SPRINT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Backlog del sistema a evaluar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1188720"/>
            <a:ext cx="1143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4937760" y="1243584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179222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40780" y="1188720"/>
            <a:ext cx="1143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240780" y="1243584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240780" y="179222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43800" y="1188720"/>
            <a:ext cx="1143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543800" y="1243584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7543800" y="179222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937760" y="237744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Épicas funcionales: Acceso, Administración, Captura, Extracción, Validación, Estadísticas y Calidad.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Épicas del proceso: Preparación, Diseño de pruebas, Gestión de bugs y Automatización.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historia lleva criterios de aceptación y trazabilidad a HU, RF, RN y CP.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422452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621792" y="422452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  </a:t>
            </a:r>
            <a:pPr indent="0" marL="0">
              <a:buNone/>
            </a:pPr>
            <a:r>
              <a:rPr lang="en-US" sz="12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del responsable] — [qué hizo y qué evidencia muestra]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SCRUM-70 · HISTORIA DEL SPRINT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Scrum y responsabilidades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18052"/>
            <a:ext cx="199705" cy="1997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13258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el proceso y elimina bloqueos.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26771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685800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[Nombre]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60320" y="118872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97480" y="1325880"/>
            <a:ext cx="384048" cy="38404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652" y="1418052"/>
            <a:ext cx="199705" cy="19970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154680" y="13258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269748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el backlog y acepta las historias.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697480" y="226771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2788920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[Nombre]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663440" y="118872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800600" y="1325880"/>
            <a:ext cx="384048" cy="38404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772" y="1418052"/>
            <a:ext cx="199705" cy="19970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257800" y="13258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480060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 y ejecuta las pruebas; registra los bugs.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800600" y="226771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24" name="Text 19"/>
          <p:cNvSpPr txBox="1"/>
          <p:nvPr/>
        </p:nvSpPr>
        <p:spPr>
          <a:xfrm>
            <a:off x="4892040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[Nombre]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766560" y="118872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903720" y="1325880"/>
            <a:ext cx="384048" cy="38404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892" y="1418052"/>
            <a:ext cx="199705" cy="19970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360920" y="13258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690372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 el proceso, el plan y las métricas.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6903720" y="226771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31" name="Text 25"/>
          <p:cNvSpPr txBox="1"/>
          <p:nvPr/>
        </p:nvSpPr>
        <p:spPr>
          <a:xfrm>
            <a:off x="6995160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[Nombre]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57200" y="288036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94360" y="3017520"/>
            <a:ext cx="384048" cy="38404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532" y="3109692"/>
            <a:ext cx="199705" cy="19970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051560" y="30175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</a:t>
            </a:r>
            <a:endParaRPr lang="en-US" sz="1250" dirty="0"/>
          </a:p>
        </p:txBody>
      </p:sp>
      <p:sp>
        <p:nvSpPr>
          <p:cNvPr id="36" name="Text 29"/>
          <p:cNvSpPr txBox="1"/>
          <p:nvPr/>
        </p:nvSpPr>
        <p:spPr>
          <a:xfrm>
            <a:off x="594360" y="3474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los bugs y apoya la automatización.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594360" y="395935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38" name="Text 31"/>
          <p:cNvSpPr txBox="1"/>
          <p:nvPr/>
        </p:nvSpPr>
        <p:spPr>
          <a:xfrm>
            <a:off x="685800" y="3959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[Nombre]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2560320" y="288036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2697480" y="3017520"/>
            <a:ext cx="384048" cy="38404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9652" y="3109692"/>
            <a:ext cx="199705" cy="199705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3154680" y="30175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Técnico</a:t>
            </a:r>
            <a:endParaRPr lang="en-US" sz="1250" dirty="0"/>
          </a:p>
        </p:txBody>
      </p:sp>
      <p:sp>
        <p:nvSpPr>
          <p:cNvPr id="43" name="Text 35"/>
          <p:cNvSpPr txBox="1"/>
          <p:nvPr/>
        </p:nvSpPr>
        <p:spPr>
          <a:xfrm>
            <a:off x="2697480" y="3474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 estrategia técnica de las pruebas.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2697480" y="395935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45" name="Text 37"/>
          <p:cNvSpPr txBox="1"/>
          <p:nvPr/>
        </p:nvSpPr>
        <p:spPr>
          <a:xfrm>
            <a:off x="2788920" y="3959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[Nombre]</a:t>
            </a:r>
            <a:endParaRPr lang="en-US" sz="1050" dirty="0"/>
          </a:p>
        </p:txBody>
      </p:sp>
      <p:sp>
        <p:nvSpPr>
          <p:cNvPr id="46" name="Shape 38"/>
          <p:cNvSpPr/>
          <p:nvPr/>
        </p:nvSpPr>
        <p:spPr>
          <a:xfrm>
            <a:off x="4663440" y="288036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4800600" y="3017520"/>
            <a:ext cx="384048" cy="38404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772" y="3109692"/>
            <a:ext cx="199705" cy="199705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5257800" y="30175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Arquitecto</a:t>
            </a:r>
            <a:endParaRPr lang="en-US" sz="1250" dirty="0"/>
          </a:p>
        </p:txBody>
      </p:sp>
      <p:sp>
        <p:nvSpPr>
          <p:cNvPr id="50" name="Text 41"/>
          <p:cNvSpPr txBox="1"/>
          <p:nvPr/>
        </p:nvSpPr>
        <p:spPr>
          <a:xfrm>
            <a:off x="4800600" y="3474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la arquitectura y sus dependencias.</a:t>
            </a:r>
            <a:endParaRPr lang="en-US" sz="1000" dirty="0"/>
          </a:p>
        </p:txBody>
      </p:sp>
      <p:sp>
        <p:nvSpPr>
          <p:cNvPr id="51" name="Shape 42"/>
          <p:cNvSpPr/>
          <p:nvPr/>
        </p:nvSpPr>
        <p:spPr>
          <a:xfrm>
            <a:off x="4800600" y="3959352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52" name="Text 43"/>
          <p:cNvSpPr txBox="1"/>
          <p:nvPr/>
        </p:nvSpPr>
        <p:spPr>
          <a:xfrm>
            <a:off x="4892040" y="3959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[Nombre]</a:t>
            </a:r>
            <a:endParaRPr lang="en-US" sz="1050" dirty="0"/>
          </a:p>
        </p:txBody>
      </p:sp>
      <p:sp>
        <p:nvSpPr>
          <p:cNvPr id="53" name="Shape 44"/>
          <p:cNvSpPr/>
          <p:nvPr/>
        </p:nvSpPr>
        <p:spPr>
          <a:xfrm>
            <a:off x="6766560" y="2880360"/>
            <a:ext cx="1920240" cy="1463040"/>
          </a:xfrm>
          <a:prstGeom prst="roundRect">
            <a:avLst>
              <a:gd name="adj" fmla="val 5000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54" name="Shape 45"/>
          <p:cNvSpPr/>
          <p:nvPr/>
        </p:nvSpPr>
        <p:spPr>
          <a:xfrm>
            <a:off x="6903720" y="3017520"/>
            <a:ext cx="384048" cy="384048"/>
          </a:xfrm>
          <a:prstGeom prst="ellipse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5892" y="3109692"/>
            <a:ext cx="199705" cy="199705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7360920" y="30175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RACI</a:t>
            </a:r>
            <a:endParaRPr lang="en-US" sz="1250" dirty="0"/>
          </a:p>
        </p:txBody>
      </p:sp>
      <p:sp>
        <p:nvSpPr>
          <p:cNvPr id="57" name="Text 47"/>
          <p:cNvSpPr txBox="1"/>
          <p:nvPr/>
        </p:nvSpPr>
        <p:spPr>
          <a:xfrm>
            <a:off x="6903720" y="34747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[Adjuntar: quién es responsable, aprueba, es consultado e informado en cada entregable]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SCRUM-72 · HISTORIA DEL SPRINT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Arquitectura, módulos y dependencias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103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325880"/>
            <a:ext cx="457200" cy="45720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325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web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1920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 o computadora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063240" y="1188720"/>
            <a:ext cx="2103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27832" y="1325880"/>
            <a:ext cx="457200" cy="45720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43560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94760" y="1325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227832" y="1920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· Express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Run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y aplica las reglas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606040" y="2029968"/>
            <a:ext cx="411480" cy="0"/>
          </a:xfrm>
          <a:prstGeom prst="line">
            <a:avLst/>
          </a:prstGeom>
          <a:noFill/>
          <a:ln w="22225">
            <a:solidFill>
              <a:srgbClr val="0D4F8B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212080" y="2029968"/>
            <a:ext cx="411480" cy="0"/>
          </a:xfrm>
          <a:prstGeom prst="line">
            <a:avLst/>
          </a:prstGeom>
          <a:noFill/>
          <a:ln w="22225">
            <a:solidFill>
              <a:srgbClr val="0D4F8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715000" y="1188720"/>
            <a:ext cx="29718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79008" y="1234440"/>
            <a:ext cx="274320" cy="27432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845" y="1300277"/>
            <a:ext cx="142646" cy="14264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144768" y="118872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</a:t>
            </a:r>
            <a:pPr indent="0" marL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sesión y roles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715000" y="1623060"/>
            <a:ext cx="29718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79008" y="1668780"/>
            <a:ext cx="274320" cy="27432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4845" y="1734617"/>
            <a:ext cx="142646" cy="14264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144768" y="162306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pPr indent="0" marL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datos del sistema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715000" y="2057400"/>
            <a:ext cx="29718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779008" y="2103120"/>
            <a:ext cx="274320" cy="27432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4845" y="2168957"/>
            <a:ext cx="142646" cy="14264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144768" y="20574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pPr indent="0" marL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evidencia de facturas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5715000" y="2491740"/>
            <a:ext cx="29718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5779008" y="2537460"/>
            <a:ext cx="274320" cy="27432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4845" y="2603297"/>
            <a:ext cx="142646" cy="14264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144768" y="249174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Vision</a:t>
            </a:r>
            <a:pPr indent="0" marL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lectura OCR</a:t>
            </a:r>
            <a:endParaRPr lang="en-US" sz="1050" dirty="0"/>
          </a:p>
        </p:txBody>
      </p:sp>
      <p:sp>
        <p:nvSpPr>
          <p:cNvPr id="32" name="Text 24"/>
          <p:cNvSpPr txBox="1"/>
          <p:nvPr/>
        </p:nvSpPr>
        <p:spPr>
          <a:xfrm>
            <a:off x="45720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57200" y="347472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CFE3F2"/>
          </a:solidFill>
          <a:ln w="12700">
            <a:solidFill>
              <a:srgbClr val="CFE3F2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457200" y="34747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1489192" y="347472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CFE3F2"/>
          </a:solidFill>
          <a:ln w="12700">
            <a:solidFill>
              <a:srgbClr val="CFE3F2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1489192" y="34747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2521184" y="347472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CFE3F2"/>
          </a:solidFill>
          <a:ln w="12700">
            <a:solidFill>
              <a:srgbClr val="CFE3F2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2521184" y="34747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3553176" y="347472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CFE3F2"/>
          </a:solidFill>
          <a:ln w="12700">
            <a:solidFill>
              <a:srgbClr val="CFE3F2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3553176" y="34747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4585167" y="347472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CFE3F2"/>
          </a:solidFill>
          <a:ln w="12700">
            <a:solidFill>
              <a:srgbClr val="CFE3F2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4585167" y="34747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OCR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5617159" y="347472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CFE3F2"/>
          </a:solidFill>
          <a:ln w="12700">
            <a:solidFill>
              <a:srgbClr val="CFE3F2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5617159" y="34747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Puntuación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6649151" y="347472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CFE3F2"/>
          </a:solidFill>
          <a:ln w="12700">
            <a:solidFill>
              <a:srgbClr val="CFE3F2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6649151" y="34747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7681143" y="347472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CFE3F2"/>
          </a:solidFill>
          <a:ln w="12700">
            <a:solidFill>
              <a:srgbClr val="CFE3F2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7681143" y="34747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endParaRPr lang="en-US" sz="1000" dirty="0"/>
          </a:p>
        </p:txBody>
      </p:sp>
      <p:sp>
        <p:nvSpPr>
          <p:cNvPr id="49" name="Shape 41"/>
          <p:cNvSpPr/>
          <p:nvPr/>
        </p:nvSpPr>
        <p:spPr>
          <a:xfrm>
            <a:off x="457200" y="422452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50" name="Text 42"/>
          <p:cNvSpPr txBox="1"/>
          <p:nvPr/>
        </p:nvSpPr>
        <p:spPr>
          <a:xfrm>
            <a:off x="621792" y="422452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  </a:t>
            </a:r>
            <a:pPr indent="0" marL="0">
              <a:buNone/>
            </a:pPr>
            <a:r>
              <a:rPr lang="en-US" sz="12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del responsable] — [qué hizo y qué evidencia muestra]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SCRUM-75 · HISTORIA DEL SPRINT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Atributos de calidad (ISO/IEC 25010)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98448"/>
            <a:ext cx="402336" cy="402336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921" y="1395009"/>
            <a:ext cx="209215" cy="20921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1252728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Adecuación funcional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82880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verifica con: </a:t>
            </a:r>
            <a:pPr indent="0" marL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 manuales sobre las 17 historias del sistema.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68980" y="11430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06140" y="1298448"/>
            <a:ext cx="402336" cy="402336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701" y="1395009"/>
            <a:ext cx="209215" cy="20921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09060" y="1252728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de desempeño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406140" y="182880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verifica con: </a:t>
            </a:r>
            <a:pPr indent="0" marL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JMeter: cada factura procesada en 15 segundos o menos.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80760" y="114300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298448"/>
            <a:ext cx="402336" cy="402336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481" y="1395009"/>
            <a:ext cx="209215" cy="20921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20840" y="1252728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182880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verifica con: </a:t>
            </a:r>
            <a:pPr indent="0" marL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desde el teléfono y mensajes comprensibles en español.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26974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4360" y="2852928"/>
            <a:ext cx="402336" cy="402336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921" y="2949489"/>
            <a:ext cx="209215" cy="20921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97280" y="2807208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594360" y="33832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verifica con: </a:t>
            </a:r>
            <a:pPr indent="0" marL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 401 y 403, y credenciales fuera del navegador.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68980" y="26974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06140" y="2852928"/>
            <a:ext cx="402336" cy="402336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701" y="2949489"/>
            <a:ext cx="209215" cy="20921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909060" y="2807208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3406140" y="33832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verifica con: </a:t>
            </a:r>
            <a:pPr indent="0" marL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Edge y Firefox; pantallas desde 320 px.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80760" y="269748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0" y="2852928"/>
            <a:ext cx="402336" cy="402336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4481" y="2949489"/>
            <a:ext cx="209215" cy="20921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720840" y="2807208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Fiabilidad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6217920" y="33832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verifica con: </a:t>
            </a:r>
            <a:pPr indent="0" marL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 bloqueados y errores controlados sin perder datos.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457200" y="422452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35" name="Text 27"/>
          <p:cNvSpPr txBox="1"/>
          <p:nvPr/>
        </p:nvSpPr>
        <p:spPr>
          <a:xfrm>
            <a:off x="621792" y="422452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  </a:t>
            </a:r>
            <a:pPr indent="0" marL="0">
              <a:buNone/>
            </a:pPr>
            <a:r>
              <a:rPr lang="en-US" sz="12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del responsable] — [qué hizo y qué evidencia muestra]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SCRUM-77 · HISTORIA DEL SPRINT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calidad seleccionadas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22860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8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Casos aprobados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aprobados ÷ ejecutados × 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95 % o más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Densidad de defectos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bugs ÷ historias probadas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Medir y comparar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Defectos por severidad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conteo por crítica, alta, media y baja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críticos abiertos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 reapertura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reabiertos ÷ corregidos × 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 o menos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de requisitos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historias con caso ÷ historias × 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 de prioridad 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por factura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segundos desde la carga hasta el resultado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s o menos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547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propuestas: el equipo puede ajustarlas antes de medir en el Sprint 3.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422452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621792" y="422452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  </a:t>
            </a:r>
            <a:pPr indent="0" marL="0">
              <a:buNone/>
            </a:pPr>
            <a:r>
              <a:rPr lang="en-US" sz="12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del responsable] — [qué hizo y qué evidencia muestra]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aportó cada integrante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94360" y="1280160"/>
            <a:ext cx="420624" cy="420624"/>
          </a:xfrm>
          <a:prstGeom prst="ellipse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10" y="1381110"/>
            <a:ext cx="218724" cy="2187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2527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[Nombre]</a:t>
            </a:r>
            <a:endParaRPr lang="en-US" sz="130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[Rol]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85623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 que trabajé en el sprint]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[Evidencia: enlace, captura o documento]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68980" y="11430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406140" y="1280160"/>
            <a:ext cx="420624" cy="420624"/>
          </a:xfrm>
          <a:prstGeom prst="ellipse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090" y="1381110"/>
            <a:ext cx="218724" cy="2187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27348" y="12527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[Nombre]</a:t>
            </a:r>
            <a:endParaRPr lang="en-US" sz="130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[Rol]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406140" y="185623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 que trabajé en el sprint]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[Evidencia: enlace, captura o documento]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80760" y="11430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6217920" y="1280160"/>
            <a:ext cx="420624" cy="420624"/>
          </a:xfrm>
          <a:prstGeom prst="ellipse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870" y="1381110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39128" y="12527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[Nombre]</a:t>
            </a:r>
            <a:endParaRPr lang="en-US" sz="130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[Rol]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185623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 que trabajé en el sprint]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[Evidencia: enlace, captura o documento]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2807208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20" name="Shape 15"/>
          <p:cNvSpPr/>
          <p:nvPr/>
        </p:nvSpPr>
        <p:spPr>
          <a:xfrm>
            <a:off x="594360" y="2944368"/>
            <a:ext cx="420624" cy="420624"/>
          </a:xfrm>
          <a:prstGeom prst="ellipse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10" y="3045318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15568" y="29169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[Nombre]</a:t>
            </a:r>
            <a:endParaRPr lang="en-US" sz="130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[Rol]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94360" y="352044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 que trabajé en el sprint]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[Evidencia: enlace, captura o documento]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68980" y="2807208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25" name="Shape 19"/>
          <p:cNvSpPr/>
          <p:nvPr/>
        </p:nvSpPr>
        <p:spPr>
          <a:xfrm>
            <a:off x="3406140" y="2944368"/>
            <a:ext cx="420624" cy="420624"/>
          </a:xfrm>
          <a:prstGeom prst="ellipse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7090" y="3045318"/>
            <a:ext cx="218724" cy="2187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927348" y="29169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[Nombre]</a:t>
            </a:r>
            <a:endParaRPr lang="en-US" sz="130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[Rol]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3406140" y="352044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 que trabajé en el sprint]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[Evidencia: enlace, captura o documento]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80760" y="2807208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30" name="Shape 23"/>
          <p:cNvSpPr/>
          <p:nvPr/>
        </p:nvSpPr>
        <p:spPr>
          <a:xfrm>
            <a:off x="6217920" y="2944368"/>
            <a:ext cx="420624" cy="420624"/>
          </a:xfrm>
          <a:prstGeom prst="ellipse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870" y="3045318"/>
            <a:ext cx="218724" cy="21872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739128" y="29169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[Nombre]</a:t>
            </a:r>
            <a:endParaRPr lang="en-US" sz="130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[Rol]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6217920" y="352044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 que trabajé en el sprint]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[Evidencia: enlace, captura o documento]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equipo tiene más de seis integrantes, duplica una tarjeta.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del sprint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8463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1188720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SCRUM-67  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del sistema a evaluar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0" y="128016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4114800" y="1280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[Estado]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92224"/>
            <a:ext cx="48463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21792" y="1792224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SCRUM-70  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Scrum y responsabilidades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0" y="1883664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114800" y="18836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[Estado]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95728"/>
            <a:ext cx="48463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1792" y="239572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SCRUM-72  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módulos y dependencias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2487168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4114800" y="24871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[Estado]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99232"/>
            <a:ext cx="48463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1792" y="2999232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SCRUM-75  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de calidad (ISO 25010)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309067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4114800" y="30906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[Estado]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602736"/>
            <a:ext cx="484632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21792" y="3602736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SCRUM-77  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calidad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0" y="3694176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4114800" y="369417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[Estado]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1188720"/>
            <a:ext cx="3108960" cy="2907792"/>
          </a:xfrm>
          <a:prstGeom prst="roundRect">
            <a:avLst>
              <a:gd name="adj" fmla="val 2516"/>
            </a:avLst>
          </a:prstGeom>
          <a:solidFill>
            <a:srgbClr val="E6F5FA"/>
          </a:solidFill>
          <a:ln w="12700">
            <a:solidFill>
              <a:srgbClr val="6BC3D9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766560" y="1874520"/>
            <a:ext cx="731520" cy="731520"/>
          </a:xfrm>
          <a:prstGeom prst="ellipse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2125" y="2050085"/>
            <a:ext cx="380390" cy="38039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5760720" y="27432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aquí el burndown del Sprint 1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→ Informes → Gráfico de evolución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4224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[Estado]: Hecho, En curso o Pasa al siguiente sprint.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SPRINT · 2 – 8 OCT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2: diseño de pruebas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4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11887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1325880"/>
            <a:ext cx="384048" cy="38404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5372" y="1418052"/>
            <a:ext cx="199705" cy="19970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2743200" y="17830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de equivalencia y valores límite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86300" y="11887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23460" y="1325880"/>
            <a:ext cx="384048" cy="38404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632" y="1418052"/>
            <a:ext cx="199705" cy="1997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823460" y="17830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 decisión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766560" y="11887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903720" y="1325880"/>
            <a:ext cx="384048" cy="38404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892" y="1418052"/>
            <a:ext cx="199705" cy="19970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903720" y="17830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testing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2606040" y="25146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743200" y="2651760"/>
            <a:ext cx="384048" cy="38404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5372" y="2743932"/>
            <a:ext cx="199705" cy="1997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2743200" y="31089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transición de estados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686300" y="25146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823460" y="2651760"/>
            <a:ext cx="384048" cy="38404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5632" y="2743932"/>
            <a:ext cx="199705" cy="199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823460" y="31089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 (mínimo 12)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766560" y="25146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19050" dir="5400000">
              <a:srgbClr val="8FA3B8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903720" y="2651760"/>
            <a:ext cx="384048" cy="38404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892" y="2743932"/>
            <a:ext cx="199705" cy="19970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903720" y="31089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completo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apoya en lo de este sprint: el backlog, los atributos de calidad y las métricas definidas.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9080" y="868680"/>
            <a:ext cx="1005840" cy="1005840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0482" y="111008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057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880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su retroalimentación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 · Sprint 1  ·  QA Proyecto OCR  ·  Grupo #1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Review · Sprint 1</dc:title>
  <dc:subject>PptxGenJS Presentation</dc:subject>
  <dc:creator>Grupo #1</dc:creator>
  <cp:lastModifiedBy>Grupo #1</cp:lastModifiedBy>
  <cp:revision>1</cp:revision>
  <dcterms:created xsi:type="dcterms:W3CDTF">2026-10-01T16:16:10Z</dcterms:created>
  <dcterms:modified xsi:type="dcterms:W3CDTF">2026-10-01T16:16:10Z</dcterms:modified>
</cp:coreProperties>
</file>