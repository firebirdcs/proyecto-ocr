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B2430"/>
                </a:solidFill>
                <a:latin typeface="Calibri"/>
              </a:rPr>
              <a:t>Casos por técnica de origen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0D4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Clases de equivalencia</c:v>
                  </c:pt>
                  <c:pt idx="1">
                    <c:v>Tablas de decisión</c:v>
                  </c:pt>
                  <c:pt idx="2">
                    <c:v>Valores límite</c:v>
                  </c:pt>
                  <c:pt idx="3">
                    <c:v>Transición de estados</c:v>
                  </c:pt>
                  <c:pt idx="4">
                    <c:v>Pairwise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15</c:v>
                </c:pt>
                <c:pt idx="2">
                  <c:v>9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 revisión: en el Sprint 2 convertimos la preparación del Sprint 1 en un diseño de pruebas completo y trazable, listo para ejecutarse en el Sprint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en Jira los puntos cerrados antes de presentar; si alguna historia quedó a medias, cambiar el recuadro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general antes de entrar a cada técnica. Cada cifra sale del entregable adjunto a la historia correspondiente en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clase y cada límite tiene al menos un caso. Las muestras de límites se generan con generate_samples.py --limites. Hallazgo: un archivo de exactamente 10 MB se rechaza aunque el criterio dice «hasta 10 MB».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ejecutar en el Sprint 3, alinear con el sistema real: hoy no hay tolerancia del 1 % sobre el total ni secciones de cajeros, puntos de venta o bitácora, y la administración de campañas es solo para administradores. Los casos que dependan de eso se marcarán «No aplica» o se ajustarán.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matriz de 10 filas del documento (está como imagen en el adjunto de SCRUM-85). Los defectos de compatibilidad suelen depender de dos factores a la vez, por eso basta con cubrir todos los pares.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Alinear con el sistema antes de ejecutar: la interfaz sí permite «Volver a borrador» desde una campaña archivada, y la API hoy acepta cualquier cambio de estado. CT-05 y CT-06 probablemente encuentren defectos o requieran confirmar la regla con el Product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Excel: la hoja Trazabilidad prueba que las 16 historias del sistema tienen casos. Completar el recuadro con el resultado de la revisión por pares.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no está adjunto en Jira; su responsable completa los recuadros punteados con el resumen de su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técnicas de diseño (valores límite y transición de estados) descubrieron defectos antes de ejecutar. Los cuatro corregidos aparecieron al tomar las capturas del manual de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entregables están adjuntos en sus historias de Jira o en la carpeta docs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presenta su tarjeta: qué historia trabajó, qué produjo y dónde está la evidencia. La sexta tarjeta queda para quien no tuvo historia asignada en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historias y subtareas del Sprint 2 están en Finalizado en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Adelantar el compromiso del Sprint 3 y cómo usa lo diseñado: los casos se ejecutan tal cual y los hallazgos ya identificados se registran como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Recoger observaciones del docente y del Product Owner para la retrospectiva.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· SPRINT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pruebas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OCR para la validación de facturas y las estadísticas de ventas en campañas de incentivos farmacéuticos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8 oct 2026  ·  Grupo #1  ·  Seminario de Tecnología de Información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92240" y="1325880"/>
            <a:ext cx="1920240" cy="1920240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098" y="1786738"/>
            <a:ext cx="998525" cy="9985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2880360"/>
            <a:ext cx="731520" cy="7315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85" y="3055925"/>
            <a:ext cx="380390" cy="380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3 – 8 OCT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sprint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las pruebas del sistema con técnicas formales, de modo que en el Sprint 3 solo haya que ejecutarlas, registrar los bugs y automatizarlas.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equivalencia y valores límite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decisión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pairwise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transición de estados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(mínimo 12) y revisión por pares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completo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188720"/>
            <a:ext cx="1097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120640" y="1280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188720"/>
            <a:ext cx="1097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280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188720"/>
            <a:ext cx="1097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589520" y="1280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69748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E3F4EA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85232" y="2697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  </a:t>
            </a:r>
            <a:pPr indent="0" marL="0">
              <a:buNone/>
            </a:pPr>
            <a:r>
              <a:rPr lang="en-US" sz="130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completado · 6 de 6 historias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tablero SCRUM en Jira, historias SCRUM-80 a SCRUM-94.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DISEÑO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en cifras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53" y="1409273"/>
            <a:ext cx="180685" cy="1806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2618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· 39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10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valores límite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148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SCRUM-80 · 15 límites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032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1325880"/>
            <a:ext cx="347472" cy="34747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873" y="1409273"/>
            <a:ext cx="180685" cy="1806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08960" y="12618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+ 24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1810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decisión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2148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SCRUM-83 · factura (de 32) y acceso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6344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1325880"/>
            <a:ext cx="347472" cy="34747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993" y="1409273"/>
            <a:ext cx="180685" cy="18068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12080" y="12618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4800600" y="1810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pairwise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2148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SCRUM-85 · en lugar de 54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66560" y="11887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03720" y="1325880"/>
            <a:ext cx="347472" cy="34747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113" y="1409273"/>
            <a:ext cx="180685" cy="18068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15200" y="12618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1810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transición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903720" y="2148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SCRUM-87 · 13 permitidas, 9 prohibidas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57200" y="2807208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94360" y="2944368"/>
            <a:ext cx="347472" cy="34747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53" y="3027761"/>
            <a:ext cx="180685" cy="18068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05840" y="2880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594360" y="34290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formales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94360" y="3767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SCRUM-89 · 36 de prioridad alta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2560320" y="2807208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697480" y="2944368"/>
            <a:ext cx="347472" cy="34747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0873" y="3027761"/>
            <a:ext cx="180685" cy="18068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108960" y="2880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16/16</a:t>
            </a:r>
            <a:endParaRPr lang="en-US" sz="2400" dirty="0"/>
          </a:p>
        </p:txBody>
      </p:sp>
      <p:sp>
        <p:nvSpPr>
          <p:cNvPr id="38" name="Text 30"/>
          <p:cNvSpPr txBox="1"/>
          <p:nvPr/>
        </p:nvSpPr>
        <p:spPr>
          <a:xfrm>
            <a:off x="2697480" y="34290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cubiertas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2697480" y="3767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 menos un caso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4663440" y="2807208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800600" y="2944368"/>
            <a:ext cx="347472" cy="34747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3993" y="3027761"/>
            <a:ext cx="180685" cy="18068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5212080" y="2880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2400" dirty="0"/>
          </a:p>
        </p:txBody>
      </p:sp>
      <p:sp>
        <p:nvSpPr>
          <p:cNvPr id="44" name="Text 35"/>
          <p:cNvSpPr txBox="1"/>
          <p:nvPr/>
        </p:nvSpPr>
        <p:spPr>
          <a:xfrm>
            <a:off x="4800600" y="34290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completados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4800600" y="3767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historias, 9 subtareas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6766560" y="2807208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903720" y="2944368"/>
            <a:ext cx="347472" cy="34747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7113" y="3027761"/>
            <a:ext cx="180685" cy="180685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7315200" y="2880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50" name="Text 40"/>
          <p:cNvSpPr txBox="1"/>
          <p:nvPr/>
        </p:nvSpPr>
        <p:spPr>
          <a:xfrm>
            <a:off x="6903720" y="34290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anticipados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6903720" y="3767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ya corregidos</a:t>
            </a:r>
            <a:endParaRPr lang="en-US" sz="950" dirty="0"/>
          </a:p>
        </p:txBody>
      </p:sp>
      <p:sp>
        <p:nvSpPr>
          <p:cNvPr id="52" name="Text 42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Jira (SCRUM-80 a SCRUM-94) y los documentos adjuntos de cada historia.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SCRUM-80 · CLASES DE EQUIVALENCIA Y VALORES LÍMITE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entradas críticas, en clases y bordes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válida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Clases inválidas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del archivo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JPG, PNG, WebP, TIFF, 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 otro tipo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del archivo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10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de 10 MB · vacío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la factura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inicio y min(fin, hoy)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del inicio · futura · sin fecha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Unidades por factura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de 50 · ninguna de la campaña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por unidad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de 0 a 1 000 000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Negativo · decimal · mayor · vacío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23560" y="1188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Límites: debajo · límite · encima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23560" y="1536192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742432" y="15361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
</a:t>
            </a:r>
            <a:pPr indent="0" marL="0"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MB −1 B · 10 MB · +1 B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23560" y="2011680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742432" y="20116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por factura
</a:t>
            </a:r>
            <a:pPr indent="0" marL="0"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· 50 · 51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23560" y="2487168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742432" y="24871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en una línea
</a:t>
            </a:r>
            <a:pPr indent="0" marL="0"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10 · 11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2962656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742432" y="296265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en 24 h
</a:t>
            </a:r>
            <a:pPr indent="0" marL="0"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19.ª · 20.ª · 21.ª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23560" y="3438144"/>
            <a:ext cx="30632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742432" y="34381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fin de campaña
</a:t>
            </a:r>
            <a:pPr indent="0" marL="0"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−1 · día · día +1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Flores</a:t>
            </a:r>
            <a:pPr indent="0" marL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Hojas «Clases de equivalencia» y «Valores límite» del libro de casos (60 clases, 39 valores)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SCRUM-83 · TABLAS DE DECISIÓN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 una factura y control de acceso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6692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731520"/>
                <a:gridCol w="685800"/>
                <a:gridCol w="731520"/>
                <a:gridCol w="868680"/>
                <a:gridCol w="731520"/>
                <a:gridCol w="1417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vigencia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en campaña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válido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Rechazar: duplicada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Rechazar: total inconsistente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Rechazar: fuera de vigencia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Procesar sin acreditar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 línea: precio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Acreditar puntos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566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condiciones = 32 combinaciones, reducidas a 6 reglas con «—» (indiferente).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355080" y="1143000"/>
            <a:ext cx="2331720" cy="269748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92240" y="12801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4412" y="1372332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49440" y="1280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perfil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7830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perfiles × 8 secciones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casos de acceso (TC-A01…)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sesión → 401 · sin privilegio → 403 · permitido → 200.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Josué David Salazar Lemus</a:t>
            </a:r>
            <a:pPr indent="0" marL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«Tablas Decision SCRUM.docx», adjunto en SCRUM-83 · casos TC-F01 a TC-F06 y TC-A01 a TC-A13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SCRUM-85 · PAIRWISE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Compatibilidad con 10 combinaciones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548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Chrome, Edge, Firefox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Computadora, Teléfono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JPG, PNG,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de la foto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Nítida, Inclinada, Con sombra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generada con PICT (Microsoft): cada par de valores aparece al menos una vez.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0" y="118872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669280" y="1234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66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pPr algn="ctr" indent="0" marL="0">
              <a:buNone/>
            </a:pPr>
            <a:r>
              <a:rPr lang="en-US" sz="2400" b="1" dirty="0">
                <a:solidFill>
                  <a:srgbClr val="00A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4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a probar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0" y="278892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66928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18,5 %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total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23760" y="278892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22376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ahorrados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asancheza9</a:t>
            </a:r>
            <a:pPr indent="0" marL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«DocumentoPairwise.docx», adjunto en SCRUM-85 · factores, 54 combinaciones y matriz PICT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SCRUM-87 · TRANSICIÓN DE ESTADOS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modelos, 22 casos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372332"/>
            <a:ext cx="199705" cy="199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55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→ Activa → Archivada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2377440"/>
            <a:ext cx="1120140" cy="566928"/>
          </a:xfrm>
          <a:prstGeom prst="roundRect">
            <a:avLst>
              <a:gd name="adj" fmla="val 12903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377440"/>
            <a:ext cx="1120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permitidas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805940" y="2377440"/>
            <a:ext cx="1120140" cy="566928"/>
          </a:xfrm>
          <a:prstGeom prst="roundRect">
            <a:avLst>
              <a:gd name="adj" fmla="val 1290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805940" y="2377440"/>
            <a:ext cx="1120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03580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Prohibidas: </a:t>
            </a:r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sin producto o hito; reactivar una archivada; volver a borrador desde activa; editar una archivada.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68980" y="1143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06140" y="12801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312" y="1372332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863340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406140" y="1755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→ Con puntos / Sin puntos → Anulado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406140" y="2377440"/>
            <a:ext cx="1120140" cy="566928"/>
          </a:xfrm>
          <a:prstGeom prst="roundRect">
            <a:avLst>
              <a:gd name="adj" fmla="val 12903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406140" y="2377440"/>
            <a:ext cx="1120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permitidas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4617720" y="2377440"/>
            <a:ext cx="1120140" cy="566928"/>
          </a:xfrm>
          <a:prstGeom prst="roundRect">
            <a:avLst>
              <a:gd name="adj" fmla="val 1290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617720" y="2377440"/>
            <a:ext cx="1120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prohibidas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3406140" y="303580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Prohibidas: </a:t>
            </a:r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un duplicado; anulado a con puntos; reenviar el mismo sin puntos.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080760" y="114300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17920" y="12801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092" y="1372332"/>
            <a:ext cx="199705" cy="1997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675120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bug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217920" y="1755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→ En progreso → Resuelto → Verificado → Cerrado, y Reabierto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217920" y="2377440"/>
            <a:ext cx="1120140" cy="566928"/>
          </a:xfrm>
          <a:prstGeom prst="roundRect">
            <a:avLst>
              <a:gd name="adj" fmla="val 12903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217920" y="2377440"/>
            <a:ext cx="1120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permitidas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7429500" y="2377440"/>
            <a:ext cx="1120140" cy="566928"/>
          </a:xfrm>
          <a:prstGeom prst="roundRect">
            <a:avLst>
              <a:gd name="adj" fmla="val 1290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429500" y="2377440"/>
            <a:ext cx="1120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prohibidas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6217920" y="303580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Prohibidas: </a:t>
            </a:r>
            <a:pPr indent="0" marL="0">
              <a:buNone/>
            </a:pPr>
            <a:r>
              <a:rPr lang="en-US" sz="9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a Cerrado; En progreso a Verificado.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35" name="Text 30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Manuel Alberto Martinez Barrios</a:t>
            </a:r>
            <a:pPr indent="0" marL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«SCRUM-87.pdf», adjunto en SCRUM-87 · diagramas y casos CT-01 a CT-22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SCRUM-89 · CASOS DE PRUEBA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casos formales y trazables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55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21214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87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08376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30540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16/16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cubiertas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2651760" y="1097280"/>
          <a:ext cx="35661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265176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puede venir de varias técnicas.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tiene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14630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 historia de Jira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origen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Precondiciones y datos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para ejecutar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0" y="3154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6510528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SCRUM-91 · REVISIÓN POR PARES
</a:t>
            </a:r>
            <a:pPr indent="0" marL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[__] observaciones · [__] corregidas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Flores</a:t>
            </a:r>
            <a:pPr indent="0" marL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Casos-de-Prueba-Sprint-2.xlsx · casos, trazabilidad y lista de revisión por pares (SCRUM-90, SCRUM-91)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SCRUM-92 · PLAN DE PRUEBAS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pruebas completo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1353312"/>
          </a:xfrm>
          <a:prstGeom prst="roundRect">
            <a:avLst>
              <a:gd name="adj" fmla="val 5405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" y="1367942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099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[Qué se prueba y qué queda fuera]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8980" y="1143000"/>
            <a:ext cx="2606040" cy="1353312"/>
          </a:xfrm>
          <a:prstGeom prst="roundRect">
            <a:avLst>
              <a:gd name="adj" fmla="val 5405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406140" y="1280160"/>
            <a:ext cx="365760" cy="36576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922" y="1367942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6334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406140" y="17099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[Niveles y técnicas: caja negra, caja blanca, sistema, carga]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0760" y="1143000"/>
            <a:ext cx="2606040" cy="1353312"/>
          </a:xfrm>
          <a:prstGeom prst="roundRect">
            <a:avLst>
              <a:gd name="adj" fmla="val 5405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6217920" y="1280160"/>
            <a:ext cx="365760" cy="36576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02" y="1367942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7512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y datos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17099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[Ambiente, cuentas por rol, datos de prueba]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679192"/>
            <a:ext cx="2606040" cy="1353312"/>
          </a:xfrm>
          <a:prstGeom prst="roundRect">
            <a:avLst>
              <a:gd name="adj" fmla="val 5405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" y="2904134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51560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entrada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[Qué debe estar listo para empezar a ejecutar]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68980" y="2679192"/>
            <a:ext cx="26060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06140" y="2816352"/>
            <a:ext cx="365760" cy="36576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922" y="2904134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863340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salida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340614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defectos críticos o altos abiertos y todos los requisitos de prioridad alta aprobados (documento del proyecto, 6.5).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0760" y="2679192"/>
            <a:ext cx="26060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2816352"/>
            <a:ext cx="365760" cy="36576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702" y="2904134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675120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(10 – 17 oct): ejecución, bugs, automatización e informe.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35" name="Text 27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avelasquezg21</a:t>
            </a:r>
            <a:pPr indent="0" marL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Plan de pruebas (SCRUM-93) y su aprobación (SCRUM-94) · [enlace o ubicación del documento]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ADELANTADO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ya encontró defectos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280160"/>
            <a:ext cx="402336" cy="402336"/>
          </a:xfrm>
          <a:prstGeom prst="ellipse">
            <a:avLst/>
          </a:prstGeom>
          <a:solidFill>
            <a:srgbClr val="B76A00"/>
          </a:solidFill>
          <a:ln w="12700">
            <a:solidFill>
              <a:srgbClr val="B76A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3" y="1376721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2801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confirmar en el Sprint 3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3703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no admitido: mensaje en inglés (CP-17).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más de 10 MB: error 500 (CP-18).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exactamente 10 MB: rechazado (CP-18).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acepta cualquier cambio de estado de campaña (CP-14).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de correos está abierto a cualquier sesión.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280160"/>
            <a:ext cx="402336" cy="402336"/>
          </a:xfrm>
          <a:prstGeom prst="ellipse">
            <a:avLst/>
          </a:prstGeom>
          <a:solidFill>
            <a:srgbClr val="0F7A45"/>
          </a:solidFill>
          <a:ln w="12700">
            <a:solidFill>
              <a:srgbClr val="0F7A4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593" y="1376721"/>
            <a:ext cx="209215" cy="2092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2801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Corregidos al documentar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1828800"/>
            <a:ext cx="3703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«Quitar» de los hitos invisible (rojo sobre rojo).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de deshabilitar y eliminar como bloques rojos.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íconos para ver la contraseña en Edge.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permitido» mostraba el rol interno en inglés.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registrarán en Jira como bugs y suman a la meta de 10 del Sprint 3.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queda listo para el Sprint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475488" cy="47548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77" y="1485717"/>
            <a:ext cx="247254" cy="247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1280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207008" y="15727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Casos-de-Prueba-Sprint-2.xlsx: 41 casos, clases, límites y trazabilidad (SCRUM-80, SCRUM-89).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71600"/>
            <a:ext cx="475488" cy="47548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437" y="1485717"/>
            <a:ext cx="247254" cy="24725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58968" y="1280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decisión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458968" y="15727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Decision SCRUM.docx: 6 reglas de factura y 24 casos de acceso (SCRUM-83).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1945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2377440"/>
            <a:ext cx="475488" cy="47548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7" y="2491557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07008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pairwise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207008" y="25786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DocumentoPairwise.docx: 4 factores y 10 combinaciones (SCRUM-85).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219456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377440"/>
            <a:ext cx="475488" cy="47548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437" y="2491557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58968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estados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458968" y="25786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SCRUM-87.pdf: 3 diagramas y 22 casos (SCRUM-87).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20040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594360" y="3383280"/>
            <a:ext cx="475488" cy="47548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77" y="3497397"/>
            <a:ext cx="247254" cy="24725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07008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1207008" y="35844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[Ubicación del documento] (SCRUM-92).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09160" y="320040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3383280"/>
            <a:ext cx="475488" cy="47548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437" y="3497397"/>
            <a:ext cx="247254" cy="24725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458968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y muestras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5458968" y="35844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con 18 capturas, manual técnico y comprobantes de prueba con --limites.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aportó cada integrante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10" y="1381110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Flores</a:t>
            </a:r>
            <a:endParaRPr lang="en-US" sz="125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745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SCRUM-80 · SCRUM-89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equivalencia, valores límite y los 41 casos de prueba.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898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406140" y="1280160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090" y="138111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27348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Josué David Salazar Lemus</a:t>
            </a:r>
            <a:endParaRPr lang="en-US" sz="105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3406140" y="18745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SCRUM-83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decisión de la factura y del acceso por perfil.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076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6217920" y="1280160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870" y="138111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39128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asancheza9</a:t>
            </a:r>
            <a:endParaRPr lang="en-US" sz="125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18745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SCRUM-85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pairwise de entornos y facturas con PICT.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807208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594360" y="2944368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0" y="304531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15568" y="2898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Manuel Alberto Martinez Barrios</a:t>
            </a:r>
            <a:endParaRPr lang="en-US" sz="105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5387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SCRUM-87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transición de estados y sus 22 casos.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68980" y="2807208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3406140" y="2944368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090" y="304531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27348" y="2898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avelasquezg21</a:t>
            </a:r>
            <a:endParaRPr lang="en-US" sz="125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3406140" y="35387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SCRUM-92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completo y su aprobación.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0760" y="2807208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6217920" y="2944368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870" y="3045318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39128" y="2898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25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5387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[SCRUM-__]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 que trabajé y su evidencia]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Asignaciones tomadas de Jira. Cada integrante corrige su nombre y su rol, y agrega lo que haga falta.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sprint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1612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SCRUM-80   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equivalencia y valores límite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6245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Flores · 3 pts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06240" y="12161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12161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16642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SCRUM-83   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decisión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8653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Josué Salazar · 2 pts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171907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1719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94360" y="21671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SCRUM-85   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 pairwise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36829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asancheza9 · 2 pts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222199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0" y="22219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" y="26700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SCRUM-87   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transición de estados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7121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Martinez · 2 pts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06240" y="272491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27249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94360" y="31729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SCRUM-89   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3741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Flores · 3 pts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06240" y="322783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06240" y="32278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94360" y="36758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SCRUM-92   </a:t>
            </a:r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completo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387705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avelasquezg21 · 3 pts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06240" y="373075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06240" y="3730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77840" y="114300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766560" y="1828800"/>
            <a:ext cx="731520" cy="731520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5" y="2004365"/>
            <a:ext cx="380390" cy="38039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5760720" y="2697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aquí el burndown del Sprint 2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→ Informes → Gráfico de evolución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 15 puntos completados · sprint cerrado en Jira el 10 de octubre.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SPRINT · 10 – 17 OCT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3: ejecución y automatización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5372" y="1418052"/>
            <a:ext cx="199705" cy="199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743200" y="17830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los 41 casos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8630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2346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632" y="1418052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823460" y="17830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los bugs (mínimo 10)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76656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0372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892" y="1418052"/>
            <a:ext cx="199705" cy="199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03720" y="17830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blanca con Jest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2606040" y="2514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0" y="26517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372" y="2743932"/>
            <a:ext cx="199705" cy="199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743200" y="3108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negra con Cypress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686300" y="2514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823460" y="26517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632" y="2743932"/>
            <a:ext cx="199705" cy="199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823460" y="3108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con JMeter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766560" y="2514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903720" y="26517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892" y="274393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903720" y="3108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y presentación ejecutiva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sprint más cargado: 62 de los 87 puntos del proyecto. Conviene repartir la automatización desde el primer día.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868680"/>
            <a:ext cx="1005840" cy="100584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0482" y="111008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057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retroalimentación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· Sprint 2  ·  QA Proyecto OCR  ·  Grupo #1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 · Sprint 2</dc:title>
  <dc:subject>PptxGenJS Presentation</dc:subject>
  <dc:creator>Grupo #1</dc:creator>
  <cp:lastModifiedBy>Grupo #1</cp:lastModifiedBy>
  <cp:revision>1</cp:revision>
  <dcterms:created xsi:type="dcterms:W3CDTF">2026-10-10T02:56:23Z</dcterms:created>
  <dcterms:modified xsi:type="dcterms:W3CDTF">2026-10-10T02:56:23Z</dcterms:modified>
</cp:coreProperties>
</file>